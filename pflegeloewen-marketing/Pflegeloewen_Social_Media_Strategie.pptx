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0"/>
          </a:xfrm>
          <a:prstGeom prst="rect">
            <a:avLst/>
          </a:prstGeom>
          <a:solidFill>
            <a:srgbClr val="1C5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980176"/>
            <a:ext cx="12191695" cy="54864"/>
          </a:xfrm>
          <a:prstGeom prst="rect">
            <a:avLst/>
          </a:prstGeom>
          <a:solidFill>
            <a:srgbClr val="E7C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E7C25C"/>
                </a:solidFill>
                <a:latin typeface="Calibri"/>
              </a:rPr>
              <a:t>🦁  PFLEGELÖWEN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10972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Social Media &amp; Content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E7C25C"/>
                </a:solidFill>
                <a:latin typeface="Calibri"/>
              </a:rPr>
              <a:t>Strategie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1148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D9E5E3"/>
                </a:solidFill>
                <a:latin typeface="Calibri"/>
              </a:rPr>
              <a:t>Vom Pflegedienst zur Lieblingsmarke der Region – nahbar, sichtbar, löwenstark.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09904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23B38"/>
                </a:solidFill>
                <a:latin typeface="Calibri"/>
              </a:rPr>
              <a:t>Kick-off &amp; Fahrplan  ·  Geschäftspartner: Hiko Krassevic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23B38"/>
                </a:solidFill>
                <a:latin typeface="Calibri"/>
              </a:rPr>
              <a:t>Stand: 15. Juni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99700"/>
                </a:solidFill>
                <a:latin typeface="Calibri"/>
              </a:rPr>
              <a:t>ÜBERBLICK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23B38"/>
                </a:solidFill>
                <a:latin typeface="Calibri"/>
              </a:rPr>
              <a:t>Worüber wir heute sprechen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481328"/>
            <a:ext cx="1005840" cy="38100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2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E7C25C"/>
                </a:solidFill>
                <a:latin typeface="Calibri"/>
              </a:rPr>
              <a:t>Pflegelöwen GmbH  ·  Social-Media- &amp; Content-Strategie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1175" y="6547104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FBF7EE"/>
                </a:solidFill>
                <a:latin typeface="Calibri"/>
              </a:rPr>
              <a:t>Agenda   |   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553212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828800"/>
            <a:ext cx="777240" cy="768096"/>
          </a:xfrm>
          <a:prstGeom prst="roundRect">
            <a:avLst/>
          </a:prstGeom>
          <a:solidFill>
            <a:srgbClr val="12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28800"/>
            <a:ext cx="77724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E7C25C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28800"/>
            <a:ext cx="45262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123B38"/>
                </a:solidFill>
                <a:latin typeface="Calibri"/>
              </a:rPr>
              <a:t>Ausgangslage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A7876"/>
                </a:solidFill>
                <a:latin typeface="Calibri"/>
              </a:rPr>
              <a:t>Wo Pflegelöwen heute steht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761488"/>
            <a:ext cx="553212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2761488"/>
            <a:ext cx="777240" cy="768096"/>
          </a:xfrm>
          <a:prstGeom prst="roundRect">
            <a:avLst/>
          </a:prstGeom>
          <a:solidFill>
            <a:srgbClr val="12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761488"/>
            <a:ext cx="77724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E7C25C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761488"/>
            <a:ext cx="45262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123B38"/>
                </a:solidFill>
                <a:latin typeface="Calibri"/>
              </a:rPr>
              <a:t>Zielgruppen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A7876"/>
                </a:solidFill>
                <a:latin typeface="Calibri"/>
              </a:rPr>
              <a:t>Wen wir erreichen – und warum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94176"/>
            <a:ext cx="553212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3694176"/>
            <a:ext cx="777240" cy="768096"/>
          </a:xfrm>
          <a:prstGeom prst="roundRect">
            <a:avLst/>
          </a:prstGeom>
          <a:solidFill>
            <a:srgbClr val="12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694176"/>
            <a:ext cx="77724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E7C25C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694176"/>
            <a:ext cx="45262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123B38"/>
                </a:solidFill>
                <a:latin typeface="Calibri"/>
              </a:rPr>
              <a:t>Die Leitidee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A7876"/>
                </a:solidFill>
                <a:latin typeface="Calibri"/>
              </a:rPr>
              <a:t>Unsere Strategie in einem Satz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626864"/>
            <a:ext cx="553212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4626864"/>
            <a:ext cx="777240" cy="768096"/>
          </a:xfrm>
          <a:prstGeom prst="roundRect">
            <a:avLst/>
          </a:prstGeom>
          <a:solidFill>
            <a:srgbClr val="12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626864"/>
            <a:ext cx="77724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E7C25C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26864"/>
            <a:ext cx="45262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123B38"/>
                </a:solidFill>
                <a:latin typeface="Calibri"/>
              </a:rPr>
              <a:t>Content-Säulen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A7876"/>
                </a:solidFill>
                <a:latin typeface="Calibri"/>
              </a:rPr>
              <a:t>Worüber wir reden – 5 Themenwelten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559552"/>
            <a:ext cx="553212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" y="5559552"/>
            <a:ext cx="777240" cy="768096"/>
          </a:xfrm>
          <a:prstGeom prst="roundRect">
            <a:avLst/>
          </a:prstGeom>
          <a:solidFill>
            <a:srgbClr val="12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559552"/>
            <a:ext cx="77724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E7C25C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559552"/>
            <a:ext cx="45262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123B38"/>
                </a:solidFill>
                <a:latin typeface="Calibri"/>
              </a:rPr>
              <a:t>Output &amp; Format-Mix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A7876"/>
                </a:solidFill>
                <a:latin typeface="Calibri"/>
              </a:rPr>
              <a:t>Was wir pro Woche liefern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1828800"/>
            <a:ext cx="553212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0" y="1828800"/>
            <a:ext cx="777240" cy="768096"/>
          </a:xfrm>
          <a:prstGeom prst="roundRect">
            <a:avLst/>
          </a:prstGeom>
          <a:solidFill>
            <a:srgbClr val="12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828800"/>
            <a:ext cx="77724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E7C25C"/>
                </a:solidFill>
                <a:latin typeface="Calibr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1828800"/>
            <a:ext cx="45262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123B38"/>
                </a:solidFill>
                <a:latin typeface="Calibri"/>
              </a:rPr>
              <a:t>Wochenplan Mo–So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A7876"/>
                </a:solidFill>
                <a:latin typeface="Calibri"/>
              </a:rPr>
              <a:t>Der konkrete Sende-Rhythmus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2761488"/>
            <a:ext cx="553212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0800" y="2761488"/>
            <a:ext cx="777240" cy="768096"/>
          </a:xfrm>
          <a:prstGeom prst="roundRect">
            <a:avLst/>
          </a:prstGeom>
          <a:solidFill>
            <a:srgbClr val="12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2761488"/>
            <a:ext cx="77724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E7C25C"/>
                </a:solidFill>
                <a:latin typeface="Calibri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2761488"/>
            <a:ext cx="45262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123B38"/>
                </a:solidFill>
                <a:latin typeface="Calibri"/>
              </a:rPr>
              <a:t>Ideen-Backlog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A7876"/>
                </a:solidFill>
                <a:latin typeface="Calibri"/>
              </a:rPr>
              <a:t>Konkrete Video- &amp; Reel-Ideen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3694176"/>
            <a:ext cx="553212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400800" y="3694176"/>
            <a:ext cx="777240" cy="768096"/>
          </a:xfrm>
          <a:prstGeom prst="roundRect">
            <a:avLst/>
          </a:prstGeom>
          <a:solidFill>
            <a:srgbClr val="12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3694176"/>
            <a:ext cx="77724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E7C25C"/>
                </a:solidFill>
                <a:latin typeface="Calibri"/>
              </a:rPr>
              <a:t>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3694176"/>
            <a:ext cx="45262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123B38"/>
                </a:solidFill>
                <a:latin typeface="Calibri"/>
              </a:rPr>
              <a:t>Trello-Workflow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A7876"/>
                </a:solidFill>
                <a:latin typeface="Calibri"/>
              </a:rPr>
              <a:t>Wie wir produzieren &amp; steuern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4626864"/>
            <a:ext cx="553212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400800" y="4626864"/>
            <a:ext cx="777240" cy="768096"/>
          </a:xfrm>
          <a:prstGeom prst="roundRect">
            <a:avLst/>
          </a:prstGeom>
          <a:solidFill>
            <a:srgbClr val="12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4626864"/>
            <a:ext cx="77724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E7C25C"/>
                </a:solidFill>
                <a:latin typeface="Calibri"/>
              </a:rPr>
              <a:t>09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4626864"/>
            <a:ext cx="45262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123B38"/>
                </a:solidFill>
                <a:latin typeface="Calibri"/>
              </a:rPr>
              <a:t>Ads &amp; Neukunden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A7876"/>
                </a:solidFill>
                <a:latin typeface="Calibri"/>
              </a:rPr>
              <a:t>Bezahlte Reichweite mit Budget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5559552"/>
            <a:ext cx="553212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400800" y="5559552"/>
            <a:ext cx="777240" cy="768096"/>
          </a:xfrm>
          <a:prstGeom prst="roundRect">
            <a:avLst/>
          </a:prstGeom>
          <a:solidFill>
            <a:srgbClr val="12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5559552"/>
            <a:ext cx="77724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E7C25C"/>
                </a:solidFill>
                <a:latin typeface="Calibri"/>
              </a:rPr>
              <a:t>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5559552"/>
            <a:ext cx="45262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123B38"/>
                </a:solidFill>
                <a:latin typeface="Calibri"/>
              </a:rPr>
              <a:t>KPIs &amp; Fahrplan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A7876"/>
                </a:solidFill>
                <a:latin typeface="Calibri"/>
              </a:rPr>
              <a:t>Erfolg messen – 30/60/90 Tage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99700"/>
                </a:solidFill>
                <a:latin typeface="Calibri"/>
              </a:rPr>
              <a:t>01 · AUSGANGSLAGE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23B38"/>
                </a:solidFill>
                <a:latin typeface="Calibri"/>
              </a:rPr>
              <a:t>Wo Pflegelöwen heute steht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481328"/>
            <a:ext cx="1005840" cy="38100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2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E7C25C"/>
                </a:solidFill>
                <a:latin typeface="Calibri"/>
              </a:rPr>
              <a:t>Pflegelöwen GmbH  ·  Social-Media- &amp; Content-Strategie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1175" y="6547104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FBF7EE"/>
                </a:solidFill>
                <a:latin typeface="Calibri"/>
              </a:rPr>
              <a:t>Ausgangslage   |   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55321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828800"/>
            <a:ext cx="91440" cy="2148840"/>
          </a:xfrm>
          <a:prstGeom prst="round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993392"/>
            <a:ext cx="5120640" cy="1874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23B38"/>
                </a:solidFill>
                <a:latin typeface="Calibri"/>
              </a:rPr>
              <a:t>Die Marke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C99700"/>
                </a:solidFill>
                <a:latin typeface="Calibri"/>
              </a:rPr>
              <a:t>•  </a:t>
            </a:r>
            <a:r>
              <a:rPr sz="1150" b="0">
                <a:solidFill>
                  <a:srgbClr val="202B2A"/>
                </a:solidFill>
                <a:latin typeface="Calibri"/>
              </a:rPr>
              <a:t>Ambulanter Pflegedienst in Hannover – „Löwenstarke Pflege“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C99700"/>
                </a:solidFill>
                <a:latin typeface="Calibri"/>
              </a:rPr>
              <a:t>•  </a:t>
            </a:r>
            <a:r>
              <a:rPr sz="1150" b="0">
                <a:solidFill>
                  <a:srgbClr val="202B2A"/>
                </a:solidFill>
                <a:latin typeface="Calibri"/>
              </a:rPr>
              <a:t>Starkes Leistungsportfolio: Grund-/Behandlungspflege, 24/7, SAPV, Intensiv- &amp; Tagespflege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C99700"/>
                </a:solidFill>
                <a:latin typeface="Calibri"/>
              </a:rPr>
              <a:t>•  </a:t>
            </a:r>
            <a:r>
              <a:rPr sz="1150" b="0">
                <a:solidFill>
                  <a:srgbClr val="202B2A"/>
                </a:solidFill>
                <a:latin typeface="Calibri"/>
              </a:rPr>
              <a:t>Klare Werte: Sicherheit, Würde, Lebensqualität – zu Hause bleiben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C99700"/>
                </a:solidFill>
                <a:latin typeface="Calibri"/>
              </a:rPr>
              <a:t>•  </a:t>
            </a:r>
            <a:r>
              <a:rPr sz="1150" b="0">
                <a:solidFill>
                  <a:srgbClr val="202B2A"/>
                </a:solidFill>
                <a:latin typeface="Calibri"/>
              </a:rPr>
              <a:t>Sympathisches Löwen-Branding mit Wiedererkennung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828800"/>
            <a:ext cx="55321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828800"/>
            <a:ext cx="91440" cy="2148840"/>
          </a:xfrm>
          <a:prstGeom prst="round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993392"/>
            <a:ext cx="5120640" cy="1874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23B38"/>
                </a:solidFill>
                <a:latin typeface="Calibri"/>
              </a:rPr>
              <a:t>Die Chance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C99700"/>
                </a:solidFill>
                <a:latin typeface="Calibri"/>
              </a:rPr>
              <a:t>•  </a:t>
            </a:r>
            <a:r>
              <a:rPr sz="1150" b="0">
                <a:solidFill>
                  <a:srgbClr val="202B2A"/>
                </a:solidFill>
                <a:latin typeface="Calibri"/>
              </a:rPr>
              <a:t>Pflege wird im Netz „erklärt“ – aber selten emotional &amp; nahbar erzählt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C99700"/>
                </a:solidFill>
                <a:latin typeface="Calibri"/>
              </a:rPr>
              <a:t>•  </a:t>
            </a:r>
            <a:r>
              <a:rPr sz="1150" b="0">
                <a:solidFill>
                  <a:srgbClr val="202B2A"/>
                </a:solidFill>
                <a:latin typeface="Calibri"/>
              </a:rPr>
              <a:t>Vorbild-Accounts (z. B. @stella_mom_ceo) zeigen: Gesicht + Geschichte wirkt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C99700"/>
                </a:solidFill>
                <a:latin typeface="Calibri"/>
              </a:rPr>
              <a:t>•  </a:t>
            </a:r>
            <a:r>
              <a:rPr sz="1150" b="0">
                <a:solidFill>
                  <a:srgbClr val="202B2A"/>
                </a:solidFill>
                <a:latin typeface="Calibri"/>
              </a:rPr>
              <a:t>Zwei Bedarfe gleichzeitig bespielbar: Neukund:innen UND Pflegekräfte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C99700"/>
                </a:solidFill>
                <a:latin typeface="Calibri"/>
              </a:rPr>
              <a:t>•  </a:t>
            </a:r>
            <a:r>
              <a:rPr sz="1150" b="0">
                <a:solidFill>
                  <a:srgbClr val="202B2A"/>
                </a:solidFill>
                <a:latin typeface="Calibri"/>
              </a:rPr>
              <a:t>Regional kaum Wettbewerb mit echtem Content-System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206240"/>
            <a:ext cx="11247120" cy="1783080"/>
          </a:xfrm>
          <a:prstGeom prst="roundRect">
            <a:avLst/>
          </a:prstGeom>
          <a:solidFill>
            <a:srgbClr val="12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38912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7C25C"/>
                </a:solidFill>
                <a:latin typeface="Calibri"/>
              </a:rPr>
              <a:t>UNSER AUFTRAG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736592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„Nimm die Zügel in die Hand. Bring mich nach vorne – als wäre ich dein Kunde.“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D9E5E3"/>
                </a:solidFill>
                <a:latin typeface="Calibri"/>
              </a:rPr>
              <a:t>Wir bauen ein wiederholbares Content-System, testen mit Budget und beweisen, was funktioniert. Wenn es funktioniert, ist es verkaufbar. Deshalb: erst die Craft, dann die Skalierung.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99700"/>
                </a:solidFill>
                <a:latin typeface="Calibri"/>
              </a:rPr>
              <a:t>02 · ZIELGRUPPEN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23B38"/>
                </a:solidFill>
                <a:latin typeface="Calibri"/>
              </a:rPr>
              <a:t>Drei Menschen, die wir erreichen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481328"/>
            <a:ext cx="1005840" cy="38100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2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E7C25C"/>
                </a:solidFill>
                <a:latin typeface="Calibri"/>
              </a:rPr>
              <a:t>Pflegelöwen GmbH  ·  Social-Media- &amp; Content-Strategie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1175" y="6547104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FBF7EE"/>
                </a:solidFill>
                <a:latin typeface="Calibri"/>
              </a:rPr>
              <a:t>Zielgruppen   |   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363931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828800"/>
            <a:ext cx="3639312" cy="868680"/>
          </a:xfrm>
          <a:prstGeom prst="round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828800"/>
            <a:ext cx="327355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👵  Senior:innen &amp; Angehörige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880360"/>
            <a:ext cx="3182112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C99700"/>
                </a:solidFill>
                <a:latin typeface="Calibri"/>
              </a:rPr>
              <a:t>›  </a:t>
            </a:r>
            <a:r>
              <a:rPr sz="1150" b="0">
                <a:solidFill>
                  <a:srgbClr val="202B2A"/>
                </a:solidFill>
                <a:latin typeface="Calibri"/>
              </a:rPr>
              <a:t>Töchter/Söhne (45–65), die Hilfe für Eltern suchen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C99700"/>
                </a:solidFill>
                <a:latin typeface="Calibri"/>
              </a:rPr>
              <a:t>›  </a:t>
            </a:r>
            <a:r>
              <a:rPr sz="1150" b="0">
                <a:solidFill>
                  <a:srgbClr val="202B2A"/>
                </a:solidFill>
                <a:latin typeface="Calibri"/>
              </a:rPr>
              <a:t>Emotion: Überforderung, Schuldgefühl, Suche nach Vertrauen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C99700"/>
                </a:solidFill>
                <a:latin typeface="Calibri"/>
              </a:rPr>
              <a:t>›  </a:t>
            </a:r>
            <a:r>
              <a:rPr sz="1150" b="0">
                <a:solidFill>
                  <a:srgbClr val="202B2A"/>
                </a:solidFill>
                <a:latin typeface="Calibri"/>
              </a:rPr>
              <a:t>Wir liefern: Orientierung, Sicherheit, ein Gesicht zum Vertrauen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3984" y="1828800"/>
            <a:ext cx="363931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43984" y="1828800"/>
            <a:ext cx="3639312" cy="868680"/>
          </a:xfrm>
          <a:prstGeom prst="roundRect">
            <a:avLst/>
          </a:prstGeom>
          <a:solidFill>
            <a:srgbClr val="1C5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2584" y="1828800"/>
            <a:ext cx="327355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🧑‍⚕️  Pflegekräfte (Recruiting)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0016" y="2880360"/>
            <a:ext cx="3182112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C99700"/>
                </a:solidFill>
                <a:latin typeface="Calibri"/>
              </a:rPr>
              <a:t>›  </a:t>
            </a:r>
            <a:r>
              <a:rPr sz="1150" b="0">
                <a:solidFill>
                  <a:srgbClr val="202B2A"/>
                </a:solidFill>
                <a:latin typeface="Calibri"/>
              </a:rPr>
              <a:t>Fachkräfte &amp; Quereinsteiger:innen in/um Hannover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C99700"/>
                </a:solidFill>
                <a:latin typeface="Calibri"/>
              </a:rPr>
              <a:t>›  </a:t>
            </a:r>
            <a:r>
              <a:rPr sz="1150" b="0">
                <a:solidFill>
                  <a:srgbClr val="202B2A"/>
                </a:solidFill>
                <a:latin typeface="Calibri"/>
              </a:rPr>
              <a:t>Emotion: Wertschätzung, faire Bedingungen, Teamgefühl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C99700"/>
                </a:solidFill>
                <a:latin typeface="Calibri"/>
              </a:rPr>
              <a:t>›  </a:t>
            </a:r>
            <a:r>
              <a:rPr sz="1150" b="0">
                <a:solidFill>
                  <a:srgbClr val="202B2A"/>
                </a:solidFill>
                <a:latin typeface="Calibri"/>
              </a:rPr>
              <a:t>Wir liefern: Einblicke ins Team, Kultur, „hier will ich arbeiten“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47888" y="1828800"/>
            <a:ext cx="363931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47888" y="1828800"/>
            <a:ext cx="3639312" cy="868680"/>
          </a:xfrm>
          <a:prstGeom prst="round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76488" y="1828800"/>
            <a:ext cx="327355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🤝  Multiplikatoren &amp; Region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880360"/>
            <a:ext cx="3182112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C99700"/>
                </a:solidFill>
                <a:latin typeface="Calibri"/>
              </a:rPr>
              <a:t>›  </a:t>
            </a:r>
            <a:r>
              <a:rPr sz="1150" b="0">
                <a:solidFill>
                  <a:srgbClr val="202B2A"/>
                </a:solidFill>
                <a:latin typeface="Calibri"/>
              </a:rPr>
              <a:t>Ärzt:innen, Kliniken, Sozialdienste, lokale Community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C99700"/>
                </a:solidFill>
                <a:latin typeface="Calibri"/>
              </a:rPr>
              <a:t>›  </a:t>
            </a:r>
            <a:r>
              <a:rPr sz="1150" b="0">
                <a:solidFill>
                  <a:srgbClr val="202B2A"/>
                </a:solidFill>
                <a:latin typeface="Calibri"/>
              </a:rPr>
              <a:t>Emotion: Verlässlichkeit, Reputation, Bekanntheit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C99700"/>
                </a:solidFill>
                <a:latin typeface="Calibri"/>
              </a:rPr>
              <a:t>›  </a:t>
            </a:r>
            <a:r>
              <a:rPr sz="1150" b="0">
                <a:solidFill>
                  <a:srgbClr val="202B2A"/>
                </a:solidFill>
                <a:latin typeface="Calibri"/>
              </a:rPr>
              <a:t>Wir liefern: Sichtbarkeit &amp; Glaubwürdigkeit als Marke aus Hannover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57784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23B38"/>
                </a:solidFill>
                <a:latin typeface="Calibri"/>
              </a:rPr>
              <a:t>Fokus Phase 1: </a:t>
            </a:r>
            <a:r>
              <a:rPr sz="1250" b="0">
                <a:solidFill>
                  <a:srgbClr val="202B2A"/>
                </a:solidFill>
                <a:latin typeface="Calibri"/>
              </a:rPr>
              <a:t>Neukund:innen-Vertrauen + Recruiting parallel – beides zahlt auf dieselbe Marke ein.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7C25C"/>
                </a:solidFill>
                <a:latin typeface="Calibri"/>
              </a:rPr>
              <a:t>03 · DIE LEITIDEE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Wir machen Pflege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E7C25C"/>
                </a:solidFill>
                <a:latin typeface="Calibri"/>
              </a:rPr>
              <a:t>menschlich sichtbar.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56616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DBE6E4"/>
                </a:solidFill>
                <a:latin typeface="Calibri"/>
              </a:rPr>
              <a:t>Statt Logos und Leistungslisten zeigen wir Gesichter, Geschichten und Momente – den Alltag des Pflegelöwen-Teams. So entsteht Vertrauen, bevor jemand anruft.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800600"/>
            <a:ext cx="2144268" cy="475488"/>
          </a:xfrm>
          <a:prstGeom prst="roundRect">
            <a:avLst>
              <a:gd name="adj" fmla="val 50000"/>
            </a:avLst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800600"/>
            <a:ext cx="214426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23B38"/>
                </a:solidFill>
                <a:latin typeface="Calibri"/>
              </a:rPr>
              <a:t>Nahbar statt steril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85516" y="4800600"/>
            <a:ext cx="2039112" cy="475488"/>
          </a:xfrm>
          <a:prstGeom prst="roundRect">
            <a:avLst>
              <a:gd name="adj" fmla="val 50000"/>
            </a:avLst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5516" y="4800600"/>
            <a:ext cx="203911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23B38"/>
                </a:solidFill>
                <a:latin typeface="Calibri"/>
              </a:rPr>
              <a:t>Gesicht statt Logo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25796" y="4800600"/>
            <a:ext cx="2670048" cy="475488"/>
          </a:xfrm>
          <a:prstGeom prst="roundRect">
            <a:avLst>
              <a:gd name="adj" fmla="val 50000"/>
            </a:avLst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25796" y="4800600"/>
            <a:ext cx="267004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23B38"/>
                </a:solidFill>
                <a:latin typeface="Calibri"/>
              </a:rPr>
              <a:t>Geschichte statt Werbung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012" y="4800600"/>
            <a:ext cx="2354580" cy="475488"/>
          </a:xfrm>
          <a:prstGeom prst="roundRect">
            <a:avLst>
              <a:gd name="adj" fmla="val 50000"/>
            </a:avLst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7012" y="4800600"/>
            <a:ext cx="23545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23B38"/>
                </a:solidFill>
                <a:latin typeface="Calibri"/>
              </a:rPr>
              <a:t>Konstanz statt Zufall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7150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B9CCC9"/>
                </a:solidFill>
                <a:latin typeface="Calibri"/>
              </a:rPr>
              <a:t>Benchmark-Tonalität: @stella_mom_ceo – persönlich, ehrlich, mit Haltung. Genau dieses Gefühl bauen wir für Pflegelöwen.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99700"/>
                </a:solidFill>
                <a:latin typeface="Calibri"/>
              </a:rPr>
              <a:t>04 · CONTENT-SÄULEN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23B38"/>
                </a:solidFill>
                <a:latin typeface="Calibri"/>
              </a:rPr>
              <a:t>Fünf Themenwelten, die wir rotieren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481328"/>
            <a:ext cx="1005840" cy="38100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2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E7C25C"/>
                </a:solidFill>
                <a:latin typeface="Calibri"/>
              </a:rPr>
              <a:t>Pflegelöwen GmbH  ·  Social-Media- &amp; Content-Strategie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1175" y="6547104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FBF7EE"/>
                </a:solidFill>
                <a:latin typeface="Calibri"/>
              </a:rPr>
              <a:t>Content-Säulen   |   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221284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828800"/>
            <a:ext cx="2212848" cy="502920"/>
          </a:xfrm>
          <a:prstGeom prst="round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47088"/>
            <a:ext cx="221284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23B38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514600"/>
            <a:ext cx="188366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3B38"/>
                </a:solidFill>
                <a:latin typeface="Calibri"/>
              </a:rPr>
              <a:t>Vertrauen &amp; Kompetenz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37560"/>
            <a:ext cx="188366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2B2A"/>
                </a:solidFill>
                <a:latin typeface="Calibri"/>
              </a:rPr>
              <a:t>Pflegewissen einfach erklärt: Pflegegrad, Anträge, Tipps für Angehörige.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873752"/>
            <a:ext cx="1847088" cy="384048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73752"/>
            <a:ext cx="18470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C99700"/>
                </a:solidFill>
                <a:latin typeface="Calibri"/>
              </a:rPr>
              <a:t>Spart Anruf-Hürden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62656" y="1828800"/>
            <a:ext cx="221284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962656" y="1828800"/>
            <a:ext cx="2212848" cy="502920"/>
          </a:xfrm>
          <a:prstGeom prst="round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62656" y="1847088"/>
            <a:ext cx="221284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23B38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45536" y="2514600"/>
            <a:ext cx="188366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3B38"/>
                </a:solidFill>
                <a:latin typeface="Calibri"/>
              </a:rPr>
              <a:t>Menschen &amp; 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45536" y="3337560"/>
            <a:ext cx="188366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2B2A"/>
                </a:solidFill>
                <a:latin typeface="Calibri"/>
              </a:rPr>
              <a:t>Mitarbeiter:innen vorstellen, Behind-the-Scenes, „Ein Tag mit…“.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45536" y="4873752"/>
            <a:ext cx="1847088" cy="384048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45536" y="4873752"/>
            <a:ext cx="18470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C99700"/>
                </a:solidFill>
                <a:latin typeface="Calibri"/>
              </a:rPr>
              <a:t>Recruiting + Nähe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85232" y="1828800"/>
            <a:ext cx="221284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285232" y="1828800"/>
            <a:ext cx="2212848" cy="502920"/>
          </a:xfrm>
          <a:prstGeom prst="round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85232" y="1847088"/>
            <a:ext cx="221284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23B38"/>
                </a:solidFill>
                <a:latin typeface="Calibr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68112" y="2514600"/>
            <a:ext cx="188366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3B38"/>
                </a:solidFill>
                <a:latin typeface="Calibri"/>
              </a:rPr>
              <a:t>Herz &amp; Momente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68112" y="3337560"/>
            <a:ext cx="188366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2B2A"/>
                </a:solidFill>
                <a:latin typeface="Calibri"/>
              </a:rPr>
              <a:t>Berührende Geschichten von Senior:innen, kleine Alltagssiege.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68112" y="4873752"/>
            <a:ext cx="1847088" cy="384048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68112" y="4873752"/>
            <a:ext cx="18470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C99700"/>
                </a:solidFill>
                <a:latin typeface="Calibri"/>
              </a:rPr>
              <a:t>Emotion &amp; Shares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07808" y="1828800"/>
            <a:ext cx="221284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607808" y="1828800"/>
            <a:ext cx="2212848" cy="502920"/>
          </a:xfrm>
          <a:prstGeom prst="round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07808" y="1847088"/>
            <a:ext cx="221284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23B38"/>
                </a:solidFill>
                <a:latin typeface="Calibri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90688" y="2514600"/>
            <a:ext cx="188366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3B38"/>
                </a:solidFill>
                <a:latin typeface="Calibri"/>
              </a:rPr>
              <a:t>Service &amp; Beweis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90688" y="3337560"/>
            <a:ext cx="188366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2B2A"/>
                </a:solidFill>
                <a:latin typeface="Calibri"/>
              </a:rPr>
              <a:t>Leistungen zeigen, Bewertungen, Vorher/Nachher der Betreuung.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90688" y="4873752"/>
            <a:ext cx="1847088" cy="384048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90688" y="4873752"/>
            <a:ext cx="18470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C99700"/>
                </a:solidFill>
                <a:latin typeface="Calibri"/>
              </a:rPr>
              <a:t>Conversion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30384" y="1828800"/>
            <a:ext cx="221284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930384" y="1828800"/>
            <a:ext cx="2212848" cy="502920"/>
          </a:xfrm>
          <a:prstGeom prst="round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30384" y="1847088"/>
            <a:ext cx="221284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23B38"/>
                </a:solidFill>
                <a:latin typeface="Calibri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13264" y="2514600"/>
            <a:ext cx="188366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3B38"/>
                </a:solidFill>
                <a:latin typeface="Calibri"/>
              </a:rPr>
              <a:t>Region Hannover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13264" y="3337560"/>
            <a:ext cx="188366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2B2A"/>
                </a:solidFill>
                <a:latin typeface="Calibri"/>
              </a:rPr>
              <a:t>Lokale Bezüge, Aktionen, „Pflegelöwen vor Ort“.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113264" y="4873752"/>
            <a:ext cx="1847088" cy="384048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113264" y="4873752"/>
            <a:ext cx="18470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C99700"/>
                </a:solidFill>
                <a:latin typeface="Calibri"/>
              </a:rPr>
              <a:t>Lokale Reichweite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56235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A7876"/>
                </a:solidFill>
                <a:latin typeface="Calibri"/>
              </a:rPr>
              <a:t>Rotation sorgt für Abwechslung – jede Säule erscheint regelmäßig, kein Thema dominiert.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99700"/>
                </a:solidFill>
                <a:latin typeface="Calibri"/>
              </a:rPr>
              <a:t>05 ·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23B38"/>
                </a:solidFill>
                <a:latin typeface="Calibri"/>
              </a:rPr>
              <a:t>Was wir pro Woche liefern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481328"/>
            <a:ext cx="1005840" cy="38100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2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E7C25C"/>
                </a:solidFill>
                <a:latin typeface="Calibri"/>
              </a:rPr>
              <a:t>Pflegelöwen GmbH  ·  Social-Media- &amp; Content-Strategie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1175" y="6547104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FBF7EE"/>
                </a:solidFill>
                <a:latin typeface="Calibri"/>
              </a:rPr>
              <a:t>Output   |   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2724912" cy="1965960"/>
          </a:xfrm>
          <a:prstGeom prst="roundRect">
            <a:avLst/>
          </a:prstGeom>
          <a:solidFill>
            <a:srgbClr val="12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11680"/>
            <a:ext cx="272491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E7C25C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2724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Videos / Woche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46120"/>
            <a:ext cx="23591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C7D6D4"/>
                </a:solidFill>
                <a:latin typeface="Calibri"/>
              </a:rPr>
              <a:t>Storytelling &amp; Aufklärung (30–90 Sek.)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1874519"/>
            <a:ext cx="2724912" cy="1965960"/>
          </a:xfrm>
          <a:prstGeom prst="roundRect">
            <a:avLst/>
          </a:prstGeom>
          <a:solidFill>
            <a:srgbClr val="12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2011680"/>
            <a:ext cx="272491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E7C25C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880360"/>
            <a:ext cx="2724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Reels / Woche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246120"/>
            <a:ext cx="23591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C7D6D4"/>
                </a:solidFill>
                <a:latin typeface="Calibri"/>
              </a:rPr>
              <a:t>Trend- &amp; Hook-getrieben für Reichweite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874519"/>
            <a:ext cx="2724912" cy="1965960"/>
          </a:xfrm>
          <a:prstGeom prst="roundRect">
            <a:avLst/>
          </a:prstGeom>
          <a:solidFill>
            <a:srgbClr val="12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011680"/>
            <a:ext cx="272491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E7C25C"/>
                </a:solidFill>
                <a:latin typeface="Calibri"/>
              </a:rPr>
              <a:t>3–4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880360"/>
            <a:ext cx="2724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Beiträge / Stories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246120"/>
            <a:ext cx="23591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C7D6D4"/>
                </a:solidFill>
                <a:latin typeface="Calibri"/>
              </a:rPr>
              <a:t>Karussells, Tipps, Team, Umfragen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60" y="1874519"/>
            <a:ext cx="2724912" cy="1965960"/>
          </a:xfrm>
          <a:prstGeom prst="roundRect">
            <a:avLst/>
          </a:prstGeom>
          <a:solidFill>
            <a:srgbClr val="12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2011680"/>
            <a:ext cx="272491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E7C25C"/>
                </a:solidFill>
                <a:latin typeface="Calibri"/>
              </a:rPr>
              <a:t>7/7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880360"/>
            <a:ext cx="2724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Tage aktiv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3246120"/>
            <a:ext cx="23591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C7D6D4"/>
                </a:solidFill>
                <a:latin typeface="Calibri"/>
              </a:rPr>
              <a:t>Community-Management &amp; Antworten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069080"/>
            <a:ext cx="55321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" y="4069080"/>
            <a:ext cx="91440" cy="1874519"/>
          </a:xfrm>
          <a:prstGeom prst="round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4233672"/>
            <a:ext cx="5120640" cy="1600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23B38"/>
                </a:solidFill>
                <a:latin typeface="Calibri"/>
              </a:rPr>
              <a:t>Qualität vor Menge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C99700"/>
                </a:solidFill>
                <a:latin typeface="Calibri"/>
              </a:rPr>
              <a:t>•  </a:t>
            </a:r>
            <a:r>
              <a:rPr sz="1150" b="0">
                <a:solidFill>
                  <a:srgbClr val="202B2A"/>
                </a:solidFill>
                <a:latin typeface="Calibri"/>
              </a:rPr>
              <a:t>Lieber 2 starke Videos als 6 belanglose – „work on the craft“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C99700"/>
                </a:solidFill>
                <a:latin typeface="Calibri"/>
              </a:rPr>
              <a:t>•  </a:t>
            </a:r>
            <a:r>
              <a:rPr sz="1150" b="0">
                <a:solidFill>
                  <a:srgbClr val="202B2A"/>
                </a:solidFill>
                <a:latin typeface="Calibri"/>
              </a:rPr>
              <a:t>Wiederverwertung: 1 Dreh → mehrere Schnitte (Reel, Story, Karussell)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C99700"/>
                </a:solidFill>
                <a:latin typeface="Calibri"/>
              </a:rPr>
              <a:t>•  </a:t>
            </a:r>
            <a:r>
              <a:rPr sz="1150" b="0">
                <a:solidFill>
                  <a:srgbClr val="202B2A"/>
                </a:solidFill>
                <a:latin typeface="Calibri"/>
              </a:rPr>
              <a:t>Jeder Post hat ein Ziel: Reichweite, Vertrauen oder Conversion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4069080"/>
            <a:ext cx="55321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55080" y="4069080"/>
            <a:ext cx="91440" cy="1874519"/>
          </a:xfrm>
          <a:prstGeom prst="roundRect">
            <a:avLst/>
          </a:prstGeom>
          <a:solidFill>
            <a:srgbClr val="1C5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11112" y="4233672"/>
            <a:ext cx="5120640" cy="1600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23B38"/>
                </a:solidFill>
                <a:latin typeface="Calibri"/>
              </a:rPr>
              <a:t>Effizienter Dreh-Rhythmus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C5550"/>
                </a:solidFill>
                <a:latin typeface="Calibri"/>
              </a:rPr>
              <a:t>•  </a:t>
            </a:r>
            <a:r>
              <a:rPr sz="1150" b="0">
                <a:solidFill>
                  <a:srgbClr val="202B2A"/>
                </a:solidFill>
                <a:latin typeface="Calibri"/>
              </a:rPr>
              <a:t>1 Drehtag alle 2 Wochen = Vorrat für ~2 Wochen Content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C5550"/>
                </a:solidFill>
                <a:latin typeface="Calibri"/>
              </a:rPr>
              <a:t>•  </a:t>
            </a:r>
            <a:r>
              <a:rPr sz="1150" b="0">
                <a:solidFill>
                  <a:srgbClr val="202B2A"/>
                </a:solidFill>
                <a:latin typeface="Calibri"/>
              </a:rPr>
              <a:t>Smartphone-first + gutes Licht/Ton statt teurer Produktion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C5550"/>
                </a:solidFill>
                <a:latin typeface="Calibri"/>
              </a:rPr>
              <a:t>•  </a:t>
            </a:r>
            <a:r>
              <a:rPr sz="1150" b="0">
                <a:solidFill>
                  <a:srgbClr val="202B2A"/>
                </a:solidFill>
                <a:latin typeface="Calibri"/>
              </a:rPr>
              <a:t>Hiko als Gesicht/Stimme einbinden, wo es passt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99700"/>
                </a:solidFill>
                <a:latin typeface="Calibri"/>
              </a:rPr>
              <a:t>06 · WOCHENPLAN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23B38"/>
                </a:solidFill>
                <a:latin typeface="Calibri"/>
              </a:rPr>
              <a:t>Unser Sende-Rhythmus Mo – So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481328"/>
            <a:ext cx="1005840" cy="38100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2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E7C25C"/>
                </a:solidFill>
                <a:latin typeface="Calibri"/>
              </a:rPr>
              <a:t>Pflegelöwen GmbH  ·  Social-Media- &amp; Content-Strategie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1175" y="6547104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FBF7EE"/>
                </a:solidFill>
                <a:latin typeface="Calibri"/>
              </a:rPr>
              <a:t>Wochenplan   |   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74519"/>
            <a:ext cx="1591056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874519"/>
            <a:ext cx="1591056" cy="548640"/>
          </a:xfrm>
          <a:prstGeom prst="round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874519"/>
            <a:ext cx="159105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23B38"/>
                </a:solidFill>
                <a:latin typeface="Calibri"/>
              </a:rPr>
              <a:t>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587751"/>
            <a:ext cx="1371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23B38"/>
                </a:solidFill>
                <a:latin typeface="Calibri"/>
              </a:rPr>
              <a:t>Reel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291839"/>
            <a:ext cx="14081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2B2A"/>
                </a:solidFill>
                <a:latin typeface="Calibri"/>
              </a:rPr>
              <a:t>Hook/Trend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617719"/>
            <a:ext cx="1298448" cy="36576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617719"/>
            <a:ext cx="14081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C99700"/>
                </a:solidFill>
                <a:latin typeface="Calibri"/>
              </a:rPr>
              <a:t>Reichweite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03704" y="1874519"/>
            <a:ext cx="1591056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203704" y="1874519"/>
            <a:ext cx="1591056" cy="548640"/>
          </a:xfrm>
          <a:prstGeom prst="roundRect">
            <a:avLst/>
          </a:prstGeom>
          <a:solidFill>
            <a:srgbClr val="1C5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03704" y="1874519"/>
            <a:ext cx="159105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13432" y="2587751"/>
            <a:ext cx="1371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23B38"/>
                </a:solidFill>
                <a:latin typeface="Calibri"/>
              </a:rPr>
              <a:t>Karussell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95144" y="3291839"/>
            <a:ext cx="14081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2B2A"/>
                </a:solidFill>
                <a:latin typeface="Calibri"/>
              </a:rPr>
              <a:t>Pflege-Tipp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50008" y="4617719"/>
            <a:ext cx="1298448" cy="36576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95144" y="4617719"/>
            <a:ext cx="14081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C99700"/>
                </a:solidFill>
                <a:latin typeface="Calibri"/>
              </a:rPr>
              <a:t>Vertrauen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0" y="1874519"/>
            <a:ext cx="1591056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840480" y="1874519"/>
            <a:ext cx="1591056" cy="548640"/>
          </a:xfrm>
          <a:prstGeom prst="round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0" y="1874519"/>
            <a:ext cx="159105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23B38"/>
                </a:solidFill>
                <a:latin typeface="Calibri"/>
              </a:rPr>
              <a:t>MI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50208" y="2587751"/>
            <a:ext cx="1371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23B38"/>
                </a:solidFill>
                <a:latin typeface="Calibri"/>
              </a:rPr>
              <a:t>Video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3291839"/>
            <a:ext cx="14081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2B2A"/>
                </a:solidFill>
                <a:latin typeface="Calibri"/>
              </a:rPr>
              <a:t>Team/Story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86784" y="4617719"/>
            <a:ext cx="1298448" cy="36576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31920" y="4617719"/>
            <a:ext cx="14081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C99700"/>
                </a:solidFill>
                <a:latin typeface="Calibri"/>
              </a:rPr>
              <a:t>Recruiting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77256" y="1874519"/>
            <a:ext cx="1591056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77256" y="1874519"/>
            <a:ext cx="1591056" cy="548640"/>
          </a:xfrm>
          <a:prstGeom prst="roundRect">
            <a:avLst/>
          </a:prstGeom>
          <a:solidFill>
            <a:srgbClr val="1C5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77256" y="1874519"/>
            <a:ext cx="159105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86984" y="2587751"/>
            <a:ext cx="1371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23B38"/>
                </a:solidFill>
                <a:latin typeface="Calibri"/>
              </a:rPr>
              <a:t>Story-Reihe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68696" y="3291839"/>
            <a:ext cx="14081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2B2A"/>
                </a:solidFill>
                <a:latin typeface="Calibri"/>
              </a:rPr>
              <a:t>Q&amp;A / Umfrage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23560" y="4617719"/>
            <a:ext cx="1298448" cy="36576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68696" y="4617719"/>
            <a:ext cx="14081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C99700"/>
                </a:solidFill>
                <a:latin typeface="Calibri"/>
              </a:rPr>
              <a:t>Community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14032" y="1874519"/>
            <a:ext cx="1591056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114032" y="1874519"/>
            <a:ext cx="1591056" cy="548640"/>
          </a:xfrm>
          <a:prstGeom prst="round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14032" y="1874519"/>
            <a:ext cx="159105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23B38"/>
                </a:solidFill>
                <a:latin typeface="Calibri"/>
              </a:rPr>
              <a:t>FR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2587751"/>
            <a:ext cx="1371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23B38"/>
                </a:solidFill>
                <a:latin typeface="Calibri"/>
              </a:rPr>
              <a:t>Reel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05472" y="3291839"/>
            <a:ext cx="14081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2B2A"/>
                </a:solidFill>
                <a:latin typeface="Calibri"/>
              </a:rPr>
              <a:t>Emotion/Moment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260336" y="4617719"/>
            <a:ext cx="1298448" cy="36576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05472" y="4617719"/>
            <a:ext cx="14081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C99700"/>
                </a:solidFill>
                <a:latin typeface="Calibri"/>
              </a:rPr>
              <a:t>Shares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750808" y="1874519"/>
            <a:ext cx="1591056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750808" y="1874519"/>
            <a:ext cx="1591056" cy="548640"/>
          </a:xfrm>
          <a:prstGeom prst="roundRect">
            <a:avLst/>
          </a:prstGeom>
          <a:solidFill>
            <a:srgbClr val="1C5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50808" y="1874519"/>
            <a:ext cx="159105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0536" y="2587751"/>
            <a:ext cx="1371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23B38"/>
                </a:solidFill>
                <a:latin typeface="Calibri"/>
              </a:rPr>
              <a:t>Video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42248" y="3291839"/>
            <a:ext cx="14081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2B2A"/>
                </a:solidFill>
                <a:latin typeface="Calibri"/>
              </a:rPr>
              <a:t>Service/Beweis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897112" y="4617719"/>
            <a:ext cx="1298448" cy="36576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842248" y="4617719"/>
            <a:ext cx="14081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C99700"/>
                </a:solidFill>
                <a:latin typeface="Calibri"/>
              </a:rPr>
              <a:t>Conversion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387584" y="1874519"/>
            <a:ext cx="1591056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0387584" y="1874519"/>
            <a:ext cx="1591056" cy="548640"/>
          </a:xfrm>
          <a:prstGeom prst="round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87584" y="1874519"/>
            <a:ext cx="159105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23B38"/>
                </a:solidFill>
                <a:latin typeface="Calibri"/>
              </a:rPr>
              <a:t>SO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97312" y="2587751"/>
            <a:ext cx="1371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23B38"/>
                </a:solidFill>
                <a:latin typeface="Calibri"/>
              </a:rPr>
              <a:t>Beitrag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79024" y="3291839"/>
            <a:ext cx="14081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2B2A"/>
                </a:solidFill>
                <a:latin typeface="Calibri"/>
              </a:rPr>
              <a:t>Rückblick/Zitat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533888" y="4617719"/>
            <a:ext cx="1298448" cy="36576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479024" y="4617719"/>
            <a:ext cx="14081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C99700"/>
                </a:solidFill>
                <a:latin typeface="Calibri"/>
              </a:rPr>
              <a:t>Bindung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5303520"/>
            <a:ext cx="11338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23B38"/>
                </a:solidFill>
                <a:latin typeface="Calibri"/>
              </a:rPr>
              <a:t>Fixe Slots = Verlässlichkeit für den Algorithmus und fürs Team.  </a:t>
            </a:r>
            <a:r>
              <a:rPr sz="1150" b="0">
                <a:solidFill>
                  <a:srgbClr val="202B2A"/>
                </a:solidFill>
                <a:latin typeface="Calibri"/>
              </a:rPr>
              <a:t>Beste Zeiten: werktags 7–8 &amp; 18–20 Uhr, So vormittags – wird datenbasiert nachjustiert.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99700"/>
                </a:solidFill>
                <a:latin typeface="Calibri"/>
              </a:rPr>
              <a:t>07 · IDEEN-BACKLOG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23B38"/>
                </a:solidFill>
                <a:latin typeface="Calibri"/>
              </a:rPr>
              <a:t>Konkrete Video- &amp; Reel-Ideen für den Start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481328"/>
            <a:ext cx="1005840" cy="38100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2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E7C25C"/>
                </a:solidFill>
                <a:latin typeface="Calibri"/>
              </a:rPr>
              <a:t>Pflegelöwen GmbH  ·  Social-Media- &amp; Content-Strategie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1175" y="6547104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FBF7EE"/>
                </a:solidFill>
                <a:latin typeface="Calibri"/>
              </a:rPr>
              <a:t>Ideen   |   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553212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502920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C99700"/>
                </a:solidFill>
                <a:latin typeface="Calibri"/>
              </a:rPr>
              <a:t>01  </a:t>
            </a:r>
            <a:r>
              <a:rPr sz="1250" b="0">
                <a:solidFill>
                  <a:srgbClr val="202B2A"/>
                </a:solidFill>
                <a:latin typeface="Calibri"/>
              </a:rPr>
              <a:t>„3 Dinge, die jede:r über Pflegegrade wissen muss“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>
                <a:solidFill>
                  <a:srgbClr val="202B2A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C99700"/>
                </a:solidFill>
                <a:latin typeface="Calibri"/>
              </a:rPr>
              <a:t>02  </a:t>
            </a:r>
            <a:r>
              <a:rPr sz="1250" b="0">
                <a:solidFill>
                  <a:srgbClr val="202B2A"/>
                </a:solidFill>
                <a:latin typeface="Calibri"/>
              </a:rPr>
              <a:t>Ein Tag mit unserer Pflegekraft Maria (Mini-Doku)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>
                <a:solidFill>
                  <a:srgbClr val="202B2A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C99700"/>
                </a:solidFill>
                <a:latin typeface="Calibri"/>
              </a:rPr>
              <a:t>03  </a:t>
            </a:r>
            <a:r>
              <a:rPr sz="1250" b="0">
                <a:solidFill>
                  <a:srgbClr val="202B2A"/>
                </a:solidFill>
                <a:latin typeface="Calibri"/>
              </a:rPr>
              <a:t>„Was Angehörige am meisten falsch machen“ (Hook)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>
                <a:solidFill>
                  <a:srgbClr val="202B2A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C99700"/>
                </a:solidFill>
                <a:latin typeface="Calibri"/>
              </a:rPr>
              <a:t>04  </a:t>
            </a:r>
            <a:r>
              <a:rPr sz="1250" b="0">
                <a:solidFill>
                  <a:srgbClr val="202B2A"/>
                </a:solidFill>
                <a:latin typeface="Calibri"/>
              </a:rPr>
              <a:t>Senior:in erzählt: schönster Moment dieser Woche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>
                <a:solidFill>
                  <a:srgbClr val="202B2A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C99700"/>
                </a:solidFill>
                <a:latin typeface="Calibri"/>
              </a:rPr>
              <a:t>05  </a:t>
            </a:r>
            <a:r>
              <a:rPr sz="1250" b="0">
                <a:solidFill>
                  <a:srgbClr val="202B2A"/>
                </a:solidFill>
                <a:latin typeface="Calibri"/>
              </a:rPr>
              <a:t>Mythos vs. Fakt: „Pflege zu Hause ist unbezahlbar?“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>
                <a:solidFill>
                  <a:srgbClr val="202B2A"/>
                </a:solidFill>
                <a:latin typeface="Calibri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828800"/>
            <a:ext cx="553212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084831"/>
            <a:ext cx="502920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C99700"/>
                </a:solidFill>
                <a:latin typeface="Calibri"/>
              </a:rPr>
              <a:t>06  </a:t>
            </a:r>
            <a:r>
              <a:rPr sz="1250" b="0">
                <a:solidFill>
                  <a:srgbClr val="202B2A"/>
                </a:solidFill>
                <a:latin typeface="Calibri"/>
              </a:rPr>
              <a:t>Team stellt sich vor: „Warum ich Pflegelöwe wurde“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>
                <a:solidFill>
                  <a:srgbClr val="202B2A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C99700"/>
                </a:solidFill>
                <a:latin typeface="Calibri"/>
              </a:rPr>
              <a:t>07  </a:t>
            </a:r>
            <a:r>
              <a:rPr sz="1250" b="0">
                <a:solidFill>
                  <a:srgbClr val="202B2A"/>
                </a:solidFill>
                <a:latin typeface="Calibri"/>
              </a:rPr>
              <a:t>Wohnungs-Check: 5 Stolperfallen für Senior:innen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>
                <a:solidFill>
                  <a:srgbClr val="202B2A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C99700"/>
                </a:solidFill>
                <a:latin typeface="Calibri"/>
              </a:rPr>
              <a:t>08  </a:t>
            </a:r>
            <a:r>
              <a:rPr sz="1250" b="0">
                <a:solidFill>
                  <a:srgbClr val="202B2A"/>
                </a:solidFill>
                <a:latin typeface="Calibri"/>
              </a:rPr>
              <a:t>Behind-the-Scenes: So startet unser Team in den Tag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>
                <a:solidFill>
                  <a:srgbClr val="202B2A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C99700"/>
                </a:solidFill>
                <a:latin typeface="Calibri"/>
              </a:rPr>
              <a:t>09  </a:t>
            </a:r>
            <a:r>
              <a:rPr sz="1250" b="0">
                <a:solidFill>
                  <a:srgbClr val="202B2A"/>
                </a:solidFill>
                <a:latin typeface="Calibri"/>
              </a:rPr>
              <a:t>Bewertung vorgelesen + Reaktion (Social Proof)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>
                <a:solidFill>
                  <a:srgbClr val="202B2A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C99700"/>
                </a:solidFill>
                <a:latin typeface="Calibri"/>
              </a:rPr>
              <a:t>10  </a:t>
            </a:r>
            <a:r>
              <a:rPr sz="1250" b="0">
                <a:solidFill>
                  <a:srgbClr val="202B2A"/>
                </a:solidFill>
                <a:latin typeface="Calibri"/>
              </a:rPr>
              <a:t>„Wir suchen dich!“ – Recruiting-Reel mit Haltung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>
                <a:solidFill>
                  <a:srgbClr val="202B2A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A7876"/>
                </a:solidFill>
                <a:latin typeface="Calibri"/>
              </a:rPr>
              <a:t>Alle Ideen leben im Trello-Board „Ideen“ und werden wöchentlich nachgefüllt und priorisiert.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99700"/>
                </a:solidFill>
                <a:latin typeface="Calibri"/>
              </a:rPr>
              <a:t>08 ·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23B38"/>
                </a:solidFill>
                <a:latin typeface="Calibri"/>
              </a:rPr>
              <a:t>Unser Trello-Board: von der Idee zum Post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481328"/>
            <a:ext cx="1005840" cy="38100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2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E7C25C"/>
                </a:solidFill>
                <a:latin typeface="Calibri"/>
              </a:rPr>
              <a:t>Pflegelöwen GmbH  ·  Social-Media- &amp; Content-Strategie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1175" y="6547104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FBF7EE"/>
                </a:solidFill>
                <a:latin typeface="Calibri"/>
              </a:rPr>
              <a:t>Workflow   |   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965960"/>
            <a:ext cx="212140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965960"/>
            <a:ext cx="2121408" cy="566928"/>
          </a:xfrm>
          <a:prstGeom prst="round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965960"/>
            <a:ext cx="21214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23B38"/>
                </a:solidFill>
                <a:latin typeface="Calibri"/>
              </a:rPr>
              <a:t>💡 IDEEN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743200"/>
            <a:ext cx="175564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02B2A"/>
                </a:solidFill>
                <a:latin typeface="Calibri"/>
              </a:rPr>
              <a:t>Sammelbecken für alle Einfälle &amp; Trends</a:t>
            </a:r>
          </a:p>
        </p:txBody>
      </p:sp>
      <p:sp>
        <p:nvSpPr>
          <p:cNvPr id="14" name="Chevron 13"/>
          <p:cNvSpPr/>
          <p:nvPr/>
        </p:nvSpPr>
        <p:spPr>
          <a:xfrm>
            <a:off x="2670048" y="3127248"/>
            <a:ext cx="201168" cy="329184"/>
          </a:xfrm>
          <a:prstGeom prst="chevron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52928" y="1965960"/>
            <a:ext cx="212140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52928" y="1965960"/>
            <a:ext cx="2121408" cy="566928"/>
          </a:xfrm>
          <a:prstGeom prst="roundRect">
            <a:avLst/>
          </a:prstGeom>
          <a:solidFill>
            <a:srgbClr val="1C5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52928" y="1965960"/>
            <a:ext cx="21214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🎬 IN ARBEIT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35808" y="2743200"/>
            <a:ext cx="175564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02B2A"/>
                </a:solidFill>
                <a:latin typeface="Calibri"/>
              </a:rPr>
              <a:t>Skript, Dreh, Schnitt – wer macht was</a:t>
            </a:r>
          </a:p>
        </p:txBody>
      </p:sp>
      <p:sp>
        <p:nvSpPr>
          <p:cNvPr id="19" name="Chevron 18"/>
          <p:cNvSpPr/>
          <p:nvPr/>
        </p:nvSpPr>
        <p:spPr>
          <a:xfrm>
            <a:off x="4956048" y="3127248"/>
            <a:ext cx="201168" cy="329184"/>
          </a:xfrm>
          <a:prstGeom prst="chevron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38928" y="1965960"/>
            <a:ext cx="212140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138928" y="1965960"/>
            <a:ext cx="2121408" cy="566928"/>
          </a:xfrm>
          <a:prstGeom prst="round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1965960"/>
            <a:ext cx="21214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23B38"/>
                </a:solidFill>
                <a:latin typeface="Calibri"/>
              </a:rPr>
              <a:t>👀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1808" y="2743200"/>
            <a:ext cx="175564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02B2A"/>
                </a:solidFill>
                <a:latin typeface="Calibri"/>
              </a:rPr>
              <a:t>Freigabe durch Hiko / Qualitätscheck</a:t>
            </a:r>
          </a:p>
        </p:txBody>
      </p:sp>
      <p:sp>
        <p:nvSpPr>
          <p:cNvPr id="24" name="Chevron 23"/>
          <p:cNvSpPr/>
          <p:nvPr/>
        </p:nvSpPr>
        <p:spPr>
          <a:xfrm>
            <a:off x="7242048" y="3127248"/>
            <a:ext cx="201168" cy="329184"/>
          </a:xfrm>
          <a:prstGeom prst="chevron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24928" y="1965960"/>
            <a:ext cx="212140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424928" y="1965960"/>
            <a:ext cx="2121408" cy="566928"/>
          </a:xfrm>
          <a:prstGeom prst="roundRect">
            <a:avLst/>
          </a:prstGeom>
          <a:solidFill>
            <a:srgbClr val="1C5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24928" y="1965960"/>
            <a:ext cx="21214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📅 GEPLANT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07808" y="2743200"/>
            <a:ext cx="175564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02B2A"/>
                </a:solidFill>
                <a:latin typeface="Calibri"/>
              </a:rPr>
              <a:t>Caption + Hashtags + Termin gesetzt</a:t>
            </a:r>
          </a:p>
        </p:txBody>
      </p:sp>
      <p:sp>
        <p:nvSpPr>
          <p:cNvPr id="29" name="Chevron 28"/>
          <p:cNvSpPr/>
          <p:nvPr/>
        </p:nvSpPr>
        <p:spPr>
          <a:xfrm>
            <a:off x="9528048" y="3127248"/>
            <a:ext cx="201168" cy="329184"/>
          </a:xfrm>
          <a:prstGeom prst="chevron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710928" y="1965960"/>
            <a:ext cx="212140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710928" y="1965960"/>
            <a:ext cx="2121408" cy="566928"/>
          </a:xfrm>
          <a:prstGeom prst="round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10928" y="1965960"/>
            <a:ext cx="21214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23B38"/>
                </a:solidFill>
                <a:latin typeface="Calibri"/>
              </a:rPr>
              <a:t>✅ LIVE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2743200"/>
            <a:ext cx="175564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02B2A"/>
                </a:solidFill>
                <a:latin typeface="Calibri"/>
              </a:rPr>
              <a:t>Veröffentlicht – Performance wird getrackt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4983480"/>
            <a:ext cx="11338560" cy="960120"/>
          </a:xfrm>
          <a:prstGeom prst="roundRect">
            <a:avLst/>
          </a:prstGeom>
          <a:solidFill>
            <a:srgbClr val="12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102352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7C25C"/>
                </a:solidFill>
                <a:latin typeface="Calibri"/>
              </a:rPr>
              <a:t>Transparenz für Hiko: </a:t>
            </a:r>
            <a:r>
              <a:rPr sz="1250" b="0">
                <a:solidFill>
                  <a:srgbClr val="FFFFFF"/>
                </a:solidFill>
                <a:latin typeface="Calibri"/>
              </a:rPr>
              <a:t>Jederzeit sichtbar, was in Arbeit ist und was als Nächstes kommt. Wöchentliches 15-Min-Sync zur Freigabe &amp; Feedback.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99700"/>
                </a:solidFill>
                <a:latin typeface="Calibri"/>
              </a:rPr>
              <a:t>09 · ADS &amp; NEUKUNDEN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23B38"/>
                </a:solidFill>
                <a:latin typeface="Calibri"/>
              </a:rPr>
              <a:t>Bezahlte Reichweite – kontrolliert testen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481328"/>
            <a:ext cx="1005840" cy="38100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2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E7C25C"/>
                </a:solidFill>
                <a:latin typeface="Calibri"/>
              </a:rPr>
              <a:t>Pflegelöwen GmbH  ·  Social-Media- &amp; Content-Strategie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1175" y="6547104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FBF7EE"/>
                </a:solidFill>
                <a:latin typeface="Calibri"/>
              </a:rPr>
              <a:t>Ads   |   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55321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828800"/>
            <a:ext cx="91440" cy="2011680"/>
          </a:xfrm>
          <a:prstGeom prst="round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993392"/>
            <a:ext cx="51206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23B38"/>
                </a:solidFill>
                <a:latin typeface="Calibri"/>
              </a:rPr>
              <a:t>Ziel der Ads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C99700"/>
                </a:solidFill>
                <a:latin typeface="Calibri"/>
              </a:rPr>
              <a:t>•  </a:t>
            </a:r>
            <a:r>
              <a:rPr sz="1150" b="0">
                <a:solidFill>
                  <a:srgbClr val="202B2A"/>
                </a:solidFill>
                <a:latin typeface="Calibri"/>
              </a:rPr>
              <a:t>Neukunden-Anfragen (Beratungstermine) generieren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C99700"/>
                </a:solidFill>
                <a:latin typeface="Calibri"/>
              </a:rPr>
              <a:t>•  </a:t>
            </a:r>
            <a:r>
              <a:rPr sz="1150" b="0">
                <a:solidFill>
                  <a:srgbClr val="202B2A"/>
                </a:solidFill>
                <a:latin typeface="Calibri"/>
              </a:rPr>
              <a:t>Parallel: Bewerbungen von Pflegekräften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C99700"/>
                </a:solidFill>
                <a:latin typeface="Calibri"/>
              </a:rPr>
              <a:t>•  </a:t>
            </a:r>
            <a:r>
              <a:rPr sz="1150" b="0">
                <a:solidFill>
                  <a:srgbClr val="202B2A"/>
                </a:solidFill>
                <a:latin typeface="Calibri"/>
              </a:rPr>
              <a:t>Beste organische Inhalte als Ad skalieren („was wirkt, boosten“)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828800"/>
            <a:ext cx="55321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828800"/>
            <a:ext cx="91440" cy="2011680"/>
          </a:xfrm>
          <a:prstGeom prst="roundRect">
            <a:avLst/>
          </a:prstGeom>
          <a:solidFill>
            <a:srgbClr val="1C5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993392"/>
            <a:ext cx="51206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23B38"/>
                </a:solidFill>
                <a:latin typeface="Calibri"/>
              </a:rPr>
              <a:t>Setup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C5550"/>
                </a:solidFill>
                <a:latin typeface="Calibri"/>
              </a:rPr>
              <a:t>•  </a:t>
            </a:r>
            <a:r>
              <a:rPr sz="1150" b="0">
                <a:solidFill>
                  <a:srgbClr val="202B2A"/>
                </a:solidFill>
                <a:latin typeface="Calibri"/>
              </a:rPr>
              <a:t>Meta (Instagram/Facebook) als Start – Region Hannover + Umland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C5550"/>
                </a:solidFill>
                <a:latin typeface="Calibri"/>
              </a:rPr>
              <a:t>•  </a:t>
            </a:r>
            <a:r>
              <a:rPr sz="1150" b="0">
                <a:solidFill>
                  <a:srgbClr val="202B2A"/>
                </a:solidFill>
                <a:latin typeface="Calibri"/>
              </a:rPr>
              <a:t>Lead-Formular &amp; Klick-zu-WhatsApp/Anruf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C5550"/>
                </a:solidFill>
                <a:latin typeface="Calibri"/>
              </a:rPr>
              <a:t>•  </a:t>
            </a:r>
            <a:r>
              <a:rPr sz="1150" b="0">
                <a:solidFill>
                  <a:srgbClr val="202B2A"/>
                </a:solidFill>
                <a:latin typeface="Calibri"/>
              </a:rPr>
              <a:t>Saubere Conversion-Messung (Pixel/Events) von Tag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69080"/>
            <a:ext cx="11247120" cy="1874519"/>
          </a:xfrm>
          <a:prstGeom prst="roundRect">
            <a:avLst/>
          </a:prstGeom>
          <a:solidFill>
            <a:srgbClr val="FBF7EE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206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99700"/>
                </a:solidFill>
                <a:latin typeface="Calibri"/>
              </a:rPr>
              <a:t>TEST-BUDGET IN STUFEN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617720"/>
            <a:ext cx="3520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4736592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23B38"/>
                </a:solidFill>
                <a:latin typeface="Calibri"/>
              </a:rPr>
              <a:t>Phase 1 · Test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99700"/>
                </a:solidFill>
                <a:latin typeface="Calibri"/>
              </a:rPr>
              <a:t>klein &amp; breit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02B2A"/>
                </a:solidFill>
                <a:latin typeface="Calibri"/>
              </a:rPr>
              <a:t>2–3 Creatives, Zielgruppen &amp; Botschaften testen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53712" y="4617720"/>
            <a:ext cx="3520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4736592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23B38"/>
                </a:solidFill>
                <a:latin typeface="Calibri"/>
              </a:rPr>
              <a:t>Phase 2 · Lernen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99700"/>
                </a:solidFill>
                <a:latin typeface="Calibri"/>
              </a:rPr>
              <a:t>Gewinner finden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02B2A"/>
                </a:solidFill>
                <a:latin typeface="Calibri"/>
              </a:rPr>
              <a:t>Bestes Creative + beste Zielgruppe identifizieren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38744" y="4617720"/>
            <a:ext cx="3520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9912" y="4736592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23B38"/>
                </a:solidFill>
                <a:latin typeface="Calibri"/>
              </a:rPr>
              <a:t>Phase 3 · Skalieren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99700"/>
                </a:solidFill>
                <a:latin typeface="Calibri"/>
              </a:rPr>
              <a:t>Budget aufs Beste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02B2A"/>
                </a:solidFill>
                <a:latin typeface="Calibri"/>
              </a:rPr>
              <a:t>Was funktioniert, bekommt mehr Budget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99700"/>
                </a:solidFill>
                <a:latin typeface="Calibri"/>
              </a:rPr>
              <a:t>10 · ERFOLG MESSEN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23B38"/>
                </a:solidFill>
                <a:latin typeface="Calibri"/>
              </a:rPr>
              <a:t>Woran wir erkennen, dass es funktioniert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481328"/>
            <a:ext cx="1005840" cy="38100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2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E7C25C"/>
                </a:solidFill>
                <a:latin typeface="Calibri"/>
              </a:rPr>
              <a:t>Pflegelöwen GmbH  ·  Social-Media- &amp; Content-Strategie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1175" y="6547104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FBF7EE"/>
                </a:solidFill>
                <a:latin typeface="Calibri"/>
              </a:rPr>
              <a:t>KPIs   |  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272491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828800"/>
            <a:ext cx="2724912" cy="109728"/>
          </a:xfrm>
          <a:prstGeom prst="round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084831"/>
            <a:ext cx="23591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3B38"/>
                </a:solidFill>
                <a:latin typeface="Calibri"/>
              </a:rPr>
              <a:t>Reichweite &amp; Views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788920"/>
            <a:ext cx="2359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99700"/>
                </a:solidFill>
                <a:latin typeface="Calibri"/>
              </a:rPr>
              <a:t>Werden wir gesehen?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200400"/>
            <a:ext cx="23591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2B2A"/>
                </a:solidFill>
                <a:latin typeface="Calibri"/>
              </a:rPr>
              <a:t>Aufrufe, Reichweite, Follower-Wachstum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1828800"/>
            <a:ext cx="272491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20440" y="1828800"/>
            <a:ext cx="2724912" cy="109728"/>
          </a:xfrm>
          <a:prstGeom prst="round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21608" y="2084831"/>
            <a:ext cx="23591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3B38"/>
                </a:solidFill>
                <a:latin typeface="Calibri"/>
              </a:rPr>
              <a:t>Engagement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1608" y="2788920"/>
            <a:ext cx="2359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99700"/>
                </a:solidFill>
                <a:latin typeface="Calibri"/>
              </a:rPr>
              <a:t>Berührt es Menschen?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1608" y="3200400"/>
            <a:ext cx="23591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2B2A"/>
                </a:solidFill>
                <a:latin typeface="Calibri"/>
              </a:rPr>
              <a:t>Saves, Shares, Kommentare, Watchtime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828800"/>
            <a:ext cx="272491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0" y="1828800"/>
            <a:ext cx="2724912" cy="109728"/>
          </a:xfrm>
          <a:prstGeom prst="round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1968" y="2084831"/>
            <a:ext cx="23591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3B38"/>
                </a:solidFill>
                <a:latin typeface="Calibri"/>
              </a:rPr>
              <a:t>Profil → Aktion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2788920"/>
            <a:ext cx="2359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99700"/>
                </a:solidFill>
                <a:latin typeface="Calibri"/>
              </a:rPr>
              <a:t>Werden sie neugierig?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3200400"/>
            <a:ext cx="23591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2B2A"/>
                </a:solidFill>
                <a:latin typeface="Calibri"/>
              </a:rPr>
              <a:t>Profilbesuche, Link-Klicks, Nachrichten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81160" y="1828800"/>
            <a:ext cx="272491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281160" y="1828800"/>
            <a:ext cx="2724912" cy="109728"/>
          </a:xfrm>
          <a:prstGeom prst="round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82328" y="2084831"/>
            <a:ext cx="23591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3B38"/>
                </a:solidFill>
                <a:latin typeface="Calibri"/>
              </a:rPr>
              <a:t>Anfragen / Leads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82328" y="2788920"/>
            <a:ext cx="2359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99700"/>
                </a:solidFill>
                <a:latin typeface="Calibri"/>
              </a:rPr>
              <a:t>Kommen Kund:innen?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82328" y="3200400"/>
            <a:ext cx="23591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02B2A"/>
                </a:solidFill>
                <a:latin typeface="Calibri"/>
              </a:rPr>
              <a:t>Beratungsanfragen, Anrufe, Bewerbungen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389120"/>
            <a:ext cx="11247120" cy="1554480"/>
          </a:xfrm>
          <a:prstGeom prst="roundRect">
            <a:avLst/>
          </a:prstGeom>
          <a:solidFill>
            <a:srgbClr val="12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55371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7C25C"/>
                </a:solidFill>
                <a:latin typeface="Calibri"/>
              </a:rPr>
              <a:t>DATENGETRIEBEN ARBEITEN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901184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Monatliches Reporting in Klartext: Was lief gut, was nicht, was testen wir als Nächstes. Wir entscheiden nach Zahlen – nicht nach Bauchgefühl. So sehen wir gemeinsam: „Kommen wir an oder nicht?“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99700"/>
                </a:solidFill>
                <a:latin typeface="Calibri"/>
              </a:rPr>
              <a:t>FAHRPLAN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23B38"/>
                </a:solidFill>
                <a:latin typeface="Calibri"/>
              </a:rPr>
              <a:t>Die nächsten 90 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481328"/>
            <a:ext cx="1005840" cy="38100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2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E7C25C"/>
                </a:solidFill>
                <a:latin typeface="Calibri"/>
              </a:rPr>
              <a:t>Pflegelöwen GmbH  ·  Social-Media- &amp; Content-Strategie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1175" y="6547104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FBF7EE"/>
                </a:solidFill>
                <a:latin typeface="Calibri"/>
              </a:rPr>
              <a:t>Fahrplan   |  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3639312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828800"/>
            <a:ext cx="3639312" cy="914400"/>
          </a:xfrm>
          <a:prstGeom prst="roundRect">
            <a:avLst/>
          </a:prstGeom>
          <a:solidFill>
            <a:srgbClr val="12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938528"/>
            <a:ext cx="32735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7C25C"/>
                </a:solidFill>
                <a:latin typeface="Calibri"/>
              </a:rPr>
              <a:t>TAG 0–30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735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Fundament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71800"/>
            <a:ext cx="3136392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C99700"/>
                </a:solidFill>
                <a:latin typeface="Calibri"/>
              </a:rPr>
              <a:t>•  </a:t>
            </a:r>
            <a:r>
              <a:rPr sz="1200" b="0">
                <a:solidFill>
                  <a:srgbClr val="202B2A"/>
                </a:solidFill>
                <a:latin typeface="Calibri"/>
              </a:rPr>
              <a:t>Profil schärfen (Bio, Highlights, Look)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C99700"/>
                </a:solidFill>
                <a:latin typeface="Calibri"/>
              </a:rPr>
              <a:t>•  </a:t>
            </a:r>
            <a:r>
              <a:rPr sz="1200" b="0">
                <a:solidFill>
                  <a:srgbClr val="202B2A"/>
                </a:solidFill>
                <a:latin typeface="Calibri"/>
              </a:rPr>
              <a:t>Erster Drehtag + Content-Vorrat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C99700"/>
                </a:solidFill>
                <a:latin typeface="Calibri"/>
              </a:rPr>
              <a:t>•  </a:t>
            </a:r>
            <a:r>
              <a:rPr sz="1200" b="0">
                <a:solidFill>
                  <a:srgbClr val="202B2A"/>
                </a:solidFill>
                <a:latin typeface="Calibri"/>
              </a:rPr>
              <a:t>Trello-Board scharf schalten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C99700"/>
                </a:solidFill>
                <a:latin typeface="Calibri"/>
              </a:rPr>
              <a:t>•  </a:t>
            </a:r>
            <a:r>
              <a:rPr sz="1200" b="0">
                <a:solidFill>
                  <a:srgbClr val="202B2A"/>
                </a:solidFill>
                <a:latin typeface="Calibri"/>
              </a:rPr>
              <a:t>Sende-Rhythmus Mo–So starten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43984" y="1828800"/>
            <a:ext cx="3639312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43984" y="1828800"/>
            <a:ext cx="3639312" cy="914400"/>
          </a:xfrm>
          <a:prstGeom prst="roundRect">
            <a:avLst/>
          </a:prstGeom>
          <a:solidFill>
            <a:srgbClr val="1C5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72584" y="1938528"/>
            <a:ext cx="32735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7C25C"/>
                </a:solidFill>
                <a:latin typeface="Calibri"/>
              </a:rPr>
              <a:t>TAG 31–60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2584" y="2286000"/>
            <a:ext cx="32735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Lernen &amp; Testen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18304" y="2971800"/>
            <a:ext cx="3136392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1C5550"/>
                </a:solidFill>
                <a:latin typeface="Calibri"/>
              </a:rPr>
              <a:t>•  </a:t>
            </a:r>
            <a:r>
              <a:rPr sz="1200" b="0">
                <a:solidFill>
                  <a:srgbClr val="202B2A"/>
                </a:solidFill>
                <a:latin typeface="Calibri"/>
              </a:rPr>
              <a:t>Erste Ads-Tests live schalten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1C5550"/>
                </a:solidFill>
                <a:latin typeface="Calibri"/>
              </a:rPr>
              <a:t>•  </a:t>
            </a:r>
            <a:r>
              <a:rPr sz="1200" b="0">
                <a:solidFill>
                  <a:srgbClr val="202B2A"/>
                </a:solidFill>
                <a:latin typeface="Calibri"/>
              </a:rPr>
              <a:t>Datenanalyse: was funktioniert?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1C5550"/>
                </a:solidFill>
                <a:latin typeface="Calibri"/>
              </a:rPr>
              <a:t>•  </a:t>
            </a:r>
            <a:r>
              <a:rPr sz="1200" b="0">
                <a:solidFill>
                  <a:srgbClr val="202B2A"/>
                </a:solidFill>
                <a:latin typeface="Calibri"/>
              </a:rPr>
              <a:t>Formate doppeln, die ziehen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1C5550"/>
                </a:solidFill>
                <a:latin typeface="Calibri"/>
              </a:rPr>
              <a:t>•  </a:t>
            </a:r>
            <a:r>
              <a:rPr sz="1200" b="0">
                <a:solidFill>
                  <a:srgbClr val="202B2A"/>
                </a:solidFill>
                <a:latin typeface="Calibri"/>
              </a:rPr>
              <a:t>Erste Leads/Bewerbungen tracken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47888" y="1828800"/>
            <a:ext cx="3639312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47888" y="1828800"/>
            <a:ext cx="3639312" cy="914400"/>
          </a:xfrm>
          <a:prstGeom prst="roundRect">
            <a:avLst/>
          </a:prstGeom>
          <a:solidFill>
            <a:srgbClr val="12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76488" y="1938528"/>
            <a:ext cx="32735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7C25C"/>
                </a:solidFill>
                <a:latin typeface="Calibri"/>
              </a:rPr>
              <a:t>TAG 61–90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6488" y="2286000"/>
            <a:ext cx="32735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Skalieren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22208" y="2971800"/>
            <a:ext cx="3136392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C99700"/>
                </a:solidFill>
                <a:latin typeface="Calibri"/>
              </a:rPr>
              <a:t>•  </a:t>
            </a:r>
            <a:r>
              <a:rPr sz="1200" b="0">
                <a:solidFill>
                  <a:srgbClr val="202B2A"/>
                </a:solidFill>
                <a:latin typeface="Calibri"/>
              </a:rPr>
              <a:t>Budget auf Gewinner-Creatives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C99700"/>
                </a:solidFill>
                <a:latin typeface="Calibri"/>
              </a:rPr>
              <a:t>•  </a:t>
            </a:r>
            <a:r>
              <a:rPr sz="1200" b="0">
                <a:solidFill>
                  <a:srgbClr val="202B2A"/>
                </a:solidFill>
                <a:latin typeface="Calibri"/>
              </a:rPr>
              <a:t>Wiederholbares System dokumentieren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C99700"/>
                </a:solidFill>
                <a:latin typeface="Calibri"/>
              </a:rPr>
              <a:t>•  </a:t>
            </a:r>
            <a:r>
              <a:rPr sz="1200" b="0">
                <a:solidFill>
                  <a:srgbClr val="202B2A"/>
                </a:solidFill>
                <a:latin typeface="Calibri"/>
              </a:rPr>
              <a:t>Reporting &amp; klare KPIs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C99700"/>
                </a:solidFill>
                <a:latin typeface="Calibri"/>
              </a:rPr>
              <a:t>•  </a:t>
            </a:r>
            <a:r>
              <a:rPr sz="1200" b="0">
                <a:solidFill>
                  <a:srgbClr val="202B2A"/>
                </a:solidFill>
                <a:latin typeface="Calibri"/>
              </a:rPr>
              <a:t>Bereit, das Modell zu verkaufen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C99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0176"/>
            <a:ext cx="12191695" cy="54864"/>
          </a:xfrm>
          <a:prstGeom prst="rect">
            <a:avLst/>
          </a:prstGeom>
          <a:solidFill>
            <a:srgbClr val="E7C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7C25C"/>
                </a:solidFill>
                <a:latin typeface="Calibri"/>
              </a:rPr>
              <a:t>🦁  PFLEGELÖWEN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Erst die Craft.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>
                <a:solidFill>
                  <a:srgbClr val="E7C25C"/>
                </a:solidFill>
                <a:latin typeface="Calibri"/>
              </a:rPr>
              <a:t>Dann die Skalierung.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690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DBE6E4"/>
                </a:solidFill>
                <a:latin typeface="Calibri"/>
              </a:rPr>
              <a:t>Wir bauen ein System, das funktioniert – beweisen es mit Daten – und machen es verkaufbar. Mit Verlässlichkeit, Herz und Löwenmut. Und ja: Lass uns Spaß dabei haben.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10819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23B38"/>
                </a:solidFill>
                <a:latin typeface="Calibri"/>
              </a:rPr>
              <a:t>Nächster Schritt: Board freigeben, ersten Drehtag terminieren, Ads-Test vorbereiten.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